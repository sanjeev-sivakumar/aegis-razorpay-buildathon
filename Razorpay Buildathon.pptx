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5" r:id="rId7"/>
    <p:sldId id="266" r:id="rId8"/>
    <p:sldId id="267" r:id="rId9"/>
    <p:sldId id="268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BF4E56-0CB9-4A78-A03A-C7BD11D8AC8C}">
  <a:tblStyle styleId="{D9BF4E56-0CB9-4A78-A03A-C7BD11D8AC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36ebe4be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636ebe4be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f636ebe4be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36ebe4be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f636ebe4be_2_4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g3f636ebe4be_2_4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36ebe4be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f636ebe4be_2_9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636ebe4be_2_9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36ebe4be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f636ebe4be_2_14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f636ebe4be_2_14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2A535A55-2E53-DD48-FC8F-1D83BB7F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636ebe4be_2_206:notes">
            <a:extLst>
              <a:ext uri="{FF2B5EF4-FFF2-40B4-BE49-F238E27FC236}">
                <a16:creationId xmlns:a16="http://schemas.microsoft.com/office/drawing/2014/main" id="{95441C95-5891-3424-7929-27D4651B5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f636ebe4be_2_206:notes">
            <a:extLst>
              <a:ext uri="{FF2B5EF4-FFF2-40B4-BE49-F238E27FC236}">
                <a16:creationId xmlns:a16="http://schemas.microsoft.com/office/drawing/2014/main" id="{B5C4AB68-782F-01EB-32D1-A7111FCC2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f636ebe4be_2_206:notes">
            <a:extLst>
              <a:ext uri="{FF2B5EF4-FFF2-40B4-BE49-F238E27FC236}">
                <a16:creationId xmlns:a16="http://schemas.microsoft.com/office/drawing/2014/main" id="{D0E6D821-BF10-3D8A-C642-843D3C3A5D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0265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39735784-771F-CABC-36FC-4437A2627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636ebe4be_2_206:notes">
            <a:extLst>
              <a:ext uri="{FF2B5EF4-FFF2-40B4-BE49-F238E27FC236}">
                <a16:creationId xmlns:a16="http://schemas.microsoft.com/office/drawing/2014/main" id="{13DBE1AD-8F55-3458-AC59-D941A52E48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f636ebe4be_2_206:notes">
            <a:extLst>
              <a:ext uri="{FF2B5EF4-FFF2-40B4-BE49-F238E27FC236}">
                <a16:creationId xmlns:a16="http://schemas.microsoft.com/office/drawing/2014/main" id="{FD104050-D76E-4D7A-CEA5-71E18D20A9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f636ebe4be_2_206:notes">
            <a:extLst>
              <a:ext uri="{FF2B5EF4-FFF2-40B4-BE49-F238E27FC236}">
                <a16:creationId xmlns:a16="http://schemas.microsoft.com/office/drawing/2014/main" id="{8B7EF8F8-6194-B15F-BBD5-E1508A0C22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3683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6A885F0A-CBF6-B008-054F-AF791198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36ebe4be_2_144:notes">
            <a:extLst>
              <a:ext uri="{FF2B5EF4-FFF2-40B4-BE49-F238E27FC236}">
                <a16:creationId xmlns:a16="http://schemas.microsoft.com/office/drawing/2014/main" id="{0DD2E23F-DE67-C655-86F4-049D7F82F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f636ebe4be_2_144:notes">
            <a:extLst>
              <a:ext uri="{FF2B5EF4-FFF2-40B4-BE49-F238E27FC236}">
                <a16:creationId xmlns:a16="http://schemas.microsoft.com/office/drawing/2014/main" id="{F7EB6171-AE3F-22C0-848C-6A36525544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f636ebe4be_2_144:notes">
            <a:extLst>
              <a:ext uri="{FF2B5EF4-FFF2-40B4-BE49-F238E27FC236}">
                <a16:creationId xmlns:a16="http://schemas.microsoft.com/office/drawing/2014/main" id="{D33816C6-5C29-EB59-09D7-6DF0D580A8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658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CE309DF5-8986-DC89-CC63-54187F95A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36ebe4be_2_144:notes">
            <a:extLst>
              <a:ext uri="{FF2B5EF4-FFF2-40B4-BE49-F238E27FC236}">
                <a16:creationId xmlns:a16="http://schemas.microsoft.com/office/drawing/2014/main" id="{9828CF73-4917-1B6B-E239-D17B5E182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f636ebe4be_2_144:notes">
            <a:extLst>
              <a:ext uri="{FF2B5EF4-FFF2-40B4-BE49-F238E27FC236}">
                <a16:creationId xmlns:a16="http://schemas.microsoft.com/office/drawing/2014/main" id="{C4861F15-9FBC-CAC5-41B2-A0D6564E6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f636ebe4be_2_144:notes">
            <a:extLst>
              <a:ext uri="{FF2B5EF4-FFF2-40B4-BE49-F238E27FC236}">
                <a16:creationId xmlns:a16="http://schemas.microsoft.com/office/drawing/2014/main" id="{CAF54BC2-EF49-F5F2-5CE0-09DAF93DDF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461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5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15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15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15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15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5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15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15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15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15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15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15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15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15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15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15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15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" name="Google Shape;74;p15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" name="Google Shape;75;p15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15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01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08610" y="1055908"/>
            <a:ext cx="65151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6300"/>
              <a:buFont typeface="Cambria"/>
              <a:buNone/>
            </a:pPr>
            <a:r>
              <a:rPr lang="en-IN" sz="4600" b="0" i="0" u="none" strike="noStrike" cap="none" dirty="0" err="1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Calibri"/>
              </a:rPr>
              <a:t>Razorpay</a:t>
            </a:r>
            <a:r>
              <a:rPr lang="en-IN" sz="4600" b="0" i="0" u="none" strike="noStrike" cap="none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Calibri"/>
              </a:rPr>
              <a:t> </a:t>
            </a:r>
            <a:r>
              <a:rPr lang="en-IN" sz="4600" b="0" i="0" u="none" strike="noStrike" cap="none" dirty="0" err="1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Calibri"/>
              </a:rPr>
              <a:t>Buildathon</a:t>
            </a:r>
            <a:endParaRPr lang="en-IN" sz="4600" b="0" i="0" u="none" strike="noStrike" cap="none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29184" y="209169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mbria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172200" y="617220"/>
            <a:ext cx="2434500" cy="377100"/>
          </a:xfrm>
          <a:prstGeom prst="roundRect">
            <a:avLst>
              <a:gd name="adj" fmla="val 50000"/>
            </a:avLst>
          </a:prstGeom>
          <a:solidFill>
            <a:srgbClr val="F2E65C"/>
          </a:solidFill>
          <a:ln w="1905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172200" y="617220"/>
            <a:ext cx="2434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-IN"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Theme 01</a:t>
            </a:r>
            <a:endParaRPr sz="11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308610" y="2503170"/>
            <a:ext cx="85383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6" name="Google Shape;86;p15"/>
          <p:cNvSpPr/>
          <p:nvPr/>
        </p:nvSpPr>
        <p:spPr>
          <a:xfrm>
            <a:off x="308610" y="26403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308610" y="2846070"/>
            <a:ext cx="5006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C1B18"/>
              </a:buClr>
              <a:buSzPts val="2100"/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AEGIS — Autonomous Commerce Operating Syste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</a:p>
        </p:txBody>
      </p:sp>
      <p:sp>
        <p:nvSpPr>
          <p:cNvPr id="88" name="Google Shape;88;p15"/>
          <p:cNvSpPr/>
          <p:nvPr/>
        </p:nvSpPr>
        <p:spPr>
          <a:xfrm>
            <a:off x="308610" y="33261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lang="en" sz="800" b="1" i="0" u="none" strike="noStrike" cap="none" dirty="0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ONE-LINE PITCH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97270" y="3940057"/>
            <a:ext cx="50064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C1B18"/>
              </a:buClr>
              <a:buSzPts val="1200"/>
            </a:pPr>
            <a:r>
              <a:rPr lang="en-IN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AEGIS</a:t>
            </a:r>
            <a:r>
              <a:rPr lang="en-IN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lets AI buyers grow and complete commerce autonomously—while every money action is explainable, cryptographically authorized, deterministically gated, and </a:t>
            </a:r>
            <a:r>
              <a:rPr lang="en-IN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auditably</a:t>
            </a:r>
            <a:r>
              <a:rPr lang="en-IN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executed.</a:t>
            </a:r>
          </a:p>
          <a:p>
            <a:pPr lvl="0">
              <a:buClr>
                <a:srgbClr val="1C1B18"/>
              </a:buClr>
              <a:buSzPts val="1200"/>
            </a:pPr>
            <a:endParaRPr lang="en-IN" sz="1000" i="1" dirty="0">
              <a:solidFill>
                <a:schemeClr val="tx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Calibri"/>
            </a:endParaRPr>
          </a:p>
          <a:p>
            <a:pPr>
              <a:buClr>
                <a:srgbClr val="1C1B18"/>
              </a:buClr>
              <a:buSzPts val="1200"/>
            </a:pPr>
            <a:r>
              <a:rPr lang="en-IN" sz="1500" b="1" dirty="0">
                <a:solidFill>
                  <a:schemeClr val="tx1"/>
                </a:solidFill>
                <a:latin typeface="Cambria"/>
                <a:ea typeface="Cambria"/>
              </a:rPr>
              <a:t>Theme 01: </a:t>
            </a:r>
            <a:r>
              <a:rPr lang="en-I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Growth &amp; Agentic Commerce</a:t>
            </a:r>
            <a:endParaRPr lang="en-IN" sz="1500" b="1" dirty="0">
              <a:solidFill>
                <a:schemeClr val="tx1"/>
              </a:solidFill>
              <a:latin typeface="Cambria"/>
              <a:ea typeface="Cambria"/>
            </a:endParaRPr>
          </a:p>
          <a:p>
            <a:pPr lvl="0">
              <a:buClr>
                <a:srgbClr val="1C1B18"/>
              </a:buClr>
              <a:buSzPts val="1200"/>
            </a:pPr>
            <a:endParaRPr lang="en-IN" sz="1000" i="1" dirty="0">
              <a:solidFill>
                <a:schemeClr val="tx1"/>
              </a:solidFill>
              <a:latin typeface="Cambria"/>
              <a:ea typeface="Cambria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726430" y="2571750"/>
            <a:ext cx="3120300" cy="2023200"/>
          </a:xfrm>
          <a:prstGeom prst="roundRect">
            <a:avLst>
              <a:gd name="adj" fmla="val 4068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932170" y="2674620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932170" y="2866644"/>
            <a:ext cx="27432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endParaRPr sz="1500" b="1" dirty="0">
              <a:solidFill>
                <a:srgbClr val="1C1B18"/>
              </a:solidFill>
              <a:latin typeface="Cambria"/>
              <a:ea typeface="Cambria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932170" y="2833779"/>
            <a:ext cx="27432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-IN" sz="1100" b="1" i="0" u="none" strike="noStrike" cap="none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Calibri"/>
              </a:rPr>
              <a:t>Sanjeev Kumar S sanjeevkumaredu8@gmail.com</a:t>
            </a:r>
            <a:endParaRPr sz="1100" b="1" i="0" u="none" strike="noStrike" cap="none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Calibri"/>
            </a:endParaRPr>
          </a:p>
        </p:txBody>
      </p:sp>
      <p:cxnSp>
        <p:nvCxnSpPr>
          <p:cNvPr id="94" name="Google Shape;94;p15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15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6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1337310" y="243477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104;p16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16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16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16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" name="Google Shape;110;p16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111;p16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Google Shape;112;p16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p16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16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16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16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16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16"/>
          <p:cNvSpPr/>
          <p:nvPr/>
        </p:nvSpPr>
        <p:spPr>
          <a:xfrm>
            <a:off x="8263890" y="74557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8263890" y="74557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02 / 0</a:t>
            </a:r>
            <a:r>
              <a:rPr lang="en" sz="800" b="1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2500" b="1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Problem </a:t>
            </a:r>
            <a:r>
              <a:rPr lang="en" sz="2500" b="1" dirty="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Definition </a:t>
            </a:r>
            <a:endParaRPr sz="2500" b="0" i="0" u="none" strike="noStrike" cap="none" dirty="0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CF7F83-70DA-12D2-EA53-821A6DB014E3}"/>
              </a:ext>
            </a:extLst>
          </p:cNvPr>
          <p:cNvSpPr/>
          <p:nvPr/>
        </p:nvSpPr>
        <p:spPr>
          <a:xfrm>
            <a:off x="6111620" y="397035"/>
            <a:ext cx="3020651" cy="171523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46A23-D0C3-5D94-CF12-565AE0E6C92E}"/>
              </a:ext>
            </a:extLst>
          </p:cNvPr>
          <p:cNvSpPr/>
          <p:nvPr/>
        </p:nvSpPr>
        <p:spPr>
          <a:xfrm>
            <a:off x="6119244" y="2148931"/>
            <a:ext cx="3001896" cy="134375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460CC5-D5BA-F7FF-F930-E9FEA1B1C80A}"/>
              </a:ext>
            </a:extLst>
          </p:cNvPr>
          <p:cNvSpPr/>
          <p:nvPr/>
        </p:nvSpPr>
        <p:spPr>
          <a:xfrm>
            <a:off x="6115050" y="3552444"/>
            <a:ext cx="3017219" cy="137121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B894F6-75A6-7680-B075-19AAD7D2E589}"/>
              </a:ext>
            </a:extLst>
          </p:cNvPr>
          <p:cNvSpPr txBox="1"/>
          <p:nvPr/>
        </p:nvSpPr>
        <p:spPr>
          <a:xfrm>
            <a:off x="4258400" y="738849"/>
            <a:ext cx="177676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i="1" dirty="0">
                <a:solidFill>
                  <a:srgbClr val="1C1B1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News article of problem faced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FFEF3E4-2772-80CB-9FC8-BB962C34351D}"/>
              </a:ext>
            </a:extLst>
          </p:cNvPr>
          <p:cNvCxnSpPr>
            <a:cxnSpLocks/>
          </p:cNvCxnSpPr>
          <p:nvPr/>
        </p:nvCxnSpPr>
        <p:spPr>
          <a:xfrm>
            <a:off x="5520690" y="988741"/>
            <a:ext cx="348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202B1EA-7C7B-0E7B-47F3-0B4FC21B3045}"/>
              </a:ext>
            </a:extLst>
          </p:cNvPr>
          <p:cNvCxnSpPr>
            <a:cxnSpLocks/>
          </p:cNvCxnSpPr>
          <p:nvPr/>
        </p:nvCxnSpPr>
        <p:spPr>
          <a:xfrm>
            <a:off x="5869307" y="988741"/>
            <a:ext cx="0" cy="329070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13863B9-F464-049E-6EAA-1CB3E9137A29}"/>
              </a:ext>
            </a:extLst>
          </p:cNvPr>
          <p:cNvCxnSpPr>
            <a:endCxn id="12" idx="1"/>
          </p:cNvCxnSpPr>
          <p:nvPr/>
        </p:nvCxnSpPr>
        <p:spPr>
          <a:xfrm flipV="1">
            <a:off x="5869307" y="1254650"/>
            <a:ext cx="242313" cy="14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6FA2128-CCAA-4ED5-06EA-62F10B6808CC}"/>
              </a:ext>
            </a:extLst>
          </p:cNvPr>
          <p:cNvCxnSpPr/>
          <p:nvPr/>
        </p:nvCxnSpPr>
        <p:spPr>
          <a:xfrm flipV="1">
            <a:off x="5856732" y="2826753"/>
            <a:ext cx="242313" cy="14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C9CC87-0C82-C875-C753-B81C50E5B41A}"/>
              </a:ext>
            </a:extLst>
          </p:cNvPr>
          <p:cNvCxnSpPr/>
          <p:nvPr/>
        </p:nvCxnSpPr>
        <p:spPr>
          <a:xfrm flipV="1">
            <a:off x="5866636" y="4265363"/>
            <a:ext cx="242313" cy="14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Google Shape;240;p18">
            <a:extLst>
              <a:ext uri="{FF2B5EF4-FFF2-40B4-BE49-F238E27FC236}">
                <a16:creationId xmlns:a16="http://schemas.microsoft.com/office/drawing/2014/main" id="{173BBB37-C7EC-6B48-8DDF-2DAF01ED526F}"/>
              </a:ext>
            </a:extLst>
          </p:cNvPr>
          <p:cNvSpPr/>
          <p:nvPr/>
        </p:nvSpPr>
        <p:spPr>
          <a:xfrm>
            <a:off x="4286999" y="628755"/>
            <a:ext cx="1230560" cy="719971"/>
          </a:xfrm>
          <a:prstGeom prst="roundRect">
            <a:avLst>
              <a:gd name="adj" fmla="val 5000"/>
            </a:avLst>
          </a:prstGeom>
          <a:noFill/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endParaRPr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1587B68-64D8-1627-94B5-665BA12FBB3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186113" y="985070"/>
            <a:ext cx="1072287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4BED758-465F-CD1A-09D2-D3C94B93A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619" y="399899"/>
            <a:ext cx="3020650" cy="17123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ABE3DE-DF71-8CBC-E94C-654EB60B4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140" y="2148931"/>
            <a:ext cx="3001896" cy="1343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6A7134-B84B-DB1A-A33A-B140DCE63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524" y="3552445"/>
            <a:ext cx="3010745" cy="13712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1FFA2B-4D74-AFE6-0421-291EF7300E42}"/>
              </a:ext>
            </a:extLst>
          </p:cNvPr>
          <p:cNvSpPr txBox="1"/>
          <p:nvPr/>
        </p:nvSpPr>
        <p:spPr>
          <a:xfrm>
            <a:off x="147724" y="1398547"/>
            <a:ext cx="5227858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Buyers Are Becoming Autonomous — Commerce Infrastructure Isn’t Ready</a:t>
            </a:r>
          </a:p>
          <a:p>
            <a:pPr>
              <a:buNone/>
            </a:pPr>
            <a:endParaRPr lang="en-IN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can discover and recommend products, but payment execution remains a high-risk boundary.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commerce systems assume humans make the final purchase decision.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 agents introduce new attack surfaces: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Injection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Amount Escalation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Merchant / Recipient Substitution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Manipulation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Intent &amp; Parameter Tampering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agentic workflows can create a dangerous gap between what the AI intended and what actually gets paid.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None/>
            </a:pPr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Core Problem</a:t>
            </a:r>
          </a:p>
          <a:p>
            <a:pPr>
              <a:buNone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How do we let AI buyers act autonomously without giving them unrestricted financial authority?</a:t>
            </a:r>
          </a:p>
          <a:p>
            <a:pPr algn="ctr">
              <a:buNone/>
            </a:pPr>
            <a:r>
              <a:rPr lang="en-IN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Layer</a:t>
            </a:r>
          </a:p>
          <a:p>
            <a:pPr algn="ctr">
              <a:buNone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Intelligence →  Direct Payment Access</a:t>
            </a:r>
          </a:p>
          <a:p>
            <a:pPr algn="ctr">
              <a:buNone/>
            </a:pPr>
            <a:endParaRPr lang="en-I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None/>
            </a:pPr>
            <a:r>
              <a:rPr lang="en-IN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What’s needed:</a:t>
            </a:r>
          </a:p>
          <a:p>
            <a:pPr algn="ctr">
              <a:buNone/>
            </a:pPr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Decision → Cryptographic Authorization → Deterministic Policy → Payment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17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17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17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17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17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17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17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17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17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17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61;p17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17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Google Shape;167;p17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17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03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18900" y="283304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2300" b="1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Proposed </a:t>
            </a:r>
            <a:r>
              <a:rPr lang="en" sz="2300" b="1" dirty="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Solution – AEGIS </a:t>
            </a:r>
            <a:endParaRPr sz="2300" b="0" i="0" u="none" strike="noStrike" cap="none" dirty="0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08610" y="1680210"/>
            <a:ext cx="54864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800"/>
              <a:buFont typeface="Cambria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08610" y="2091690"/>
            <a:ext cx="8503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51435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36042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20649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B9560-28C5-0447-78E3-7450D793E553}"/>
              </a:ext>
            </a:extLst>
          </p:cNvPr>
          <p:cNvSpPr txBox="1"/>
          <p:nvPr/>
        </p:nvSpPr>
        <p:spPr>
          <a:xfrm>
            <a:off x="178403" y="954245"/>
            <a:ext cx="86272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AEGIS is a deterministic trust boundary for autonomous commerce agents, mediating every purchase action before it reaches payment infrastructure. It separates AI-driven discovery and decision-making from cryptographic authorization and policy enforcement. Every transaction is continuously validated, risk-checked, and recorded before execution.</a:t>
            </a:r>
            <a:endParaRPr lang="en-I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240;p18">
            <a:extLst>
              <a:ext uri="{FF2B5EF4-FFF2-40B4-BE49-F238E27FC236}">
                <a16:creationId xmlns:a16="http://schemas.microsoft.com/office/drawing/2014/main" id="{25287737-FE14-8316-52D4-BB38B8EAA25C}"/>
              </a:ext>
            </a:extLst>
          </p:cNvPr>
          <p:cNvSpPr/>
          <p:nvPr/>
        </p:nvSpPr>
        <p:spPr>
          <a:xfrm>
            <a:off x="768093" y="1711131"/>
            <a:ext cx="3586737" cy="719971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r>
              <a:rPr lang="en-IN" sz="900" b="1" dirty="0"/>
              <a:t>AI-Readable Commerce </a:t>
            </a:r>
            <a:r>
              <a:rPr lang="en-IN" sz="900" b="1" dirty="0" err="1"/>
              <a:t>Catalog</a:t>
            </a:r>
            <a:r>
              <a:rPr lang="en-IN" sz="900" dirty="0"/>
              <a:t> — Structures merchant inventory so AI buyers can discover, understand, compare, and transact.</a:t>
            </a:r>
            <a:endParaRPr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240;p18">
            <a:extLst>
              <a:ext uri="{FF2B5EF4-FFF2-40B4-BE49-F238E27FC236}">
                <a16:creationId xmlns:a16="http://schemas.microsoft.com/office/drawing/2014/main" id="{8D835535-7B31-158D-E494-3DDDCE2A94FA}"/>
              </a:ext>
            </a:extLst>
          </p:cNvPr>
          <p:cNvSpPr/>
          <p:nvPr/>
        </p:nvSpPr>
        <p:spPr>
          <a:xfrm>
            <a:off x="768093" y="3364676"/>
            <a:ext cx="3598227" cy="719971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r>
              <a:rPr lang="en-IN" sz="900" b="1" dirty="0"/>
              <a:t>AI Growth &amp; Ranking Engine</a:t>
            </a:r>
            <a:r>
              <a:rPr lang="en-IN" sz="900" dirty="0"/>
              <a:t> — Optimizes product selection using intent, price, quality, availability, merchant trust, and </a:t>
            </a:r>
            <a:r>
              <a:rPr lang="en-IN" sz="900" dirty="0" err="1"/>
              <a:t>fulfillment</a:t>
            </a:r>
            <a:r>
              <a:rPr lang="en-IN" sz="900" dirty="0"/>
              <a:t> signals.</a:t>
            </a:r>
            <a:endParaRPr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240;p18">
            <a:extLst>
              <a:ext uri="{FF2B5EF4-FFF2-40B4-BE49-F238E27FC236}">
                <a16:creationId xmlns:a16="http://schemas.microsoft.com/office/drawing/2014/main" id="{E540F1E6-4BF6-4F8C-EB8C-7A8B7D93BFCD}"/>
              </a:ext>
            </a:extLst>
          </p:cNvPr>
          <p:cNvSpPr/>
          <p:nvPr/>
        </p:nvSpPr>
        <p:spPr>
          <a:xfrm>
            <a:off x="756602" y="2547655"/>
            <a:ext cx="3598227" cy="719971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r>
              <a:rPr lang="en-IN" sz="900" b="1" dirty="0"/>
              <a:t>Autonomous Product Discovery</a:t>
            </a:r>
            <a:r>
              <a:rPr lang="en-IN" sz="900" dirty="0"/>
              <a:t> — Converts natural-language intent into relevant product candidates and identifies the best-fit offer.</a:t>
            </a:r>
            <a:endParaRPr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240;p18">
            <a:extLst>
              <a:ext uri="{FF2B5EF4-FFF2-40B4-BE49-F238E27FC236}">
                <a16:creationId xmlns:a16="http://schemas.microsoft.com/office/drawing/2014/main" id="{B8A52D10-A02E-F97C-7566-A51A35760262}"/>
              </a:ext>
            </a:extLst>
          </p:cNvPr>
          <p:cNvSpPr/>
          <p:nvPr/>
        </p:nvSpPr>
        <p:spPr>
          <a:xfrm>
            <a:off x="5237163" y="4231523"/>
            <a:ext cx="3598227" cy="719971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r>
              <a:rPr lang="en-IN" sz="900" b="1" dirty="0"/>
              <a:t>Failure-Safe Payment + Audit Trail</a:t>
            </a:r>
            <a:r>
              <a:rPr lang="en-IN" sz="900" dirty="0"/>
              <a:t> — Attack or policy violation → </a:t>
            </a:r>
            <a:r>
              <a:rPr lang="en-IN" sz="900" b="1" dirty="0"/>
              <a:t>BLOCK / ₹0 MOVED</a:t>
            </a:r>
            <a:r>
              <a:rPr lang="en-IN" sz="900" dirty="0"/>
              <a:t>, while successful transactions reach </a:t>
            </a:r>
            <a:r>
              <a:rPr lang="en-IN" sz="900" dirty="0" err="1"/>
              <a:t>Razorpay</a:t>
            </a:r>
            <a:r>
              <a:rPr lang="en-IN" sz="900" dirty="0"/>
              <a:t> Test Mode with a verifiable audit trail.</a:t>
            </a:r>
            <a:endParaRPr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240;p18">
            <a:extLst>
              <a:ext uri="{FF2B5EF4-FFF2-40B4-BE49-F238E27FC236}">
                <a16:creationId xmlns:a16="http://schemas.microsoft.com/office/drawing/2014/main" id="{8928F8E8-6D7D-537B-3924-B583E1FB92AB}"/>
              </a:ext>
            </a:extLst>
          </p:cNvPr>
          <p:cNvSpPr/>
          <p:nvPr/>
        </p:nvSpPr>
        <p:spPr>
          <a:xfrm>
            <a:off x="5214183" y="3326250"/>
            <a:ext cx="3598227" cy="719971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r>
              <a:rPr lang="en-IN" sz="900" b="1" dirty="0"/>
              <a:t>Bounded &amp; Gated Transactions</a:t>
            </a:r>
            <a:r>
              <a:rPr lang="en-IN" sz="900" dirty="0"/>
              <a:t> — Budget, merchant, category, and intent constraints are cryptographically bound and deterministically enforced.</a:t>
            </a:r>
            <a:endParaRPr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Google Shape;240;p18">
            <a:extLst>
              <a:ext uri="{FF2B5EF4-FFF2-40B4-BE49-F238E27FC236}">
                <a16:creationId xmlns:a16="http://schemas.microsoft.com/office/drawing/2014/main" id="{4016FA6B-5961-D170-C0ED-9C0E33231E09}"/>
              </a:ext>
            </a:extLst>
          </p:cNvPr>
          <p:cNvSpPr/>
          <p:nvPr/>
        </p:nvSpPr>
        <p:spPr>
          <a:xfrm>
            <a:off x="5237163" y="1696773"/>
            <a:ext cx="3598227" cy="719971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r>
              <a:rPr lang="en-IN" sz="900" b="1" dirty="0"/>
              <a:t>Conversational Agentic Checkout</a:t>
            </a:r>
            <a:r>
              <a:rPr lang="en-IN" sz="900" dirty="0"/>
              <a:t> — Takes the journey from </a:t>
            </a:r>
            <a:r>
              <a:rPr lang="en-IN" sz="900" b="1" dirty="0"/>
              <a:t>“Find me a product” → “Select” → “Authorize” → “Pay.”</a:t>
            </a:r>
            <a:endParaRPr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Google Shape;240;p18">
            <a:extLst>
              <a:ext uri="{FF2B5EF4-FFF2-40B4-BE49-F238E27FC236}">
                <a16:creationId xmlns:a16="http://schemas.microsoft.com/office/drawing/2014/main" id="{8102A404-9861-56D7-1AFD-A33024BEC164}"/>
              </a:ext>
            </a:extLst>
          </p:cNvPr>
          <p:cNvSpPr/>
          <p:nvPr/>
        </p:nvSpPr>
        <p:spPr>
          <a:xfrm>
            <a:off x="773740" y="4231523"/>
            <a:ext cx="3592579" cy="719971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r>
              <a:rPr lang="en-IN" sz="900" b="1" dirty="0"/>
              <a:t>Merchant AI Discoverability</a:t>
            </a:r>
            <a:r>
              <a:rPr lang="en-IN" sz="900" dirty="0"/>
              <a:t> — Improves how products are represented for machine-mediated demand, making merchants more </a:t>
            </a:r>
            <a:r>
              <a:rPr lang="en-IN" sz="900" b="1" dirty="0"/>
              <a:t>sellable to AI buyers</a:t>
            </a:r>
            <a:r>
              <a:rPr lang="en-IN" sz="900" dirty="0"/>
              <a:t>.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5161ADE-997C-B7BD-1FAE-ACC0699B2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914" y="3526105"/>
            <a:ext cx="380186" cy="380186"/>
          </a:xfrm>
          <a:prstGeom prst="rect">
            <a:avLst/>
          </a:prstGeom>
        </p:spPr>
      </p:pic>
      <p:sp>
        <p:nvSpPr>
          <p:cNvPr id="5" name="Google Shape;240;p18">
            <a:extLst>
              <a:ext uri="{FF2B5EF4-FFF2-40B4-BE49-F238E27FC236}">
                <a16:creationId xmlns:a16="http://schemas.microsoft.com/office/drawing/2014/main" id="{C5E1A2AC-BF22-C69D-1BF2-3A862B537259}"/>
              </a:ext>
            </a:extLst>
          </p:cNvPr>
          <p:cNvSpPr/>
          <p:nvPr/>
        </p:nvSpPr>
        <p:spPr>
          <a:xfrm>
            <a:off x="5235963" y="2503289"/>
            <a:ext cx="3586737" cy="719971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lvl="0"/>
            <a:r>
              <a:rPr lang="en-IN" sz="900" b="1" dirty="0"/>
              <a:t>Explainable Purchase Decisions</a:t>
            </a:r>
            <a:r>
              <a:rPr lang="en-IN" sz="900" dirty="0"/>
              <a:t> — Every AI recommendation exposes its selection score and decision factors before money moves.</a:t>
            </a:r>
            <a:endParaRPr sz="8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B86A64-0ED6-6E42-FA31-1AAD2812C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338" y="4300756"/>
            <a:ext cx="451047" cy="4510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E89D15-83DA-D592-CABB-6ACC302D8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105" y="1881542"/>
            <a:ext cx="398683" cy="3986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3F87E4-061B-4C5D-002E-038F0D0F3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05" y="2702082"/>
            <a:ext cx="373800" cy="373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80277A-EC2B-1F51-C44B-FA80C006EC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19" y="3421602"/>
            <a:ext cx="563436" cy="5634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C91DCF-F065-993E-565E-2F4F457BDF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243" y="4267579"/>
            <a:ext cx="563436" cy="5634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7053E85-AC8A-7EC5-5869-8850249270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1990" y="1826077"/>
            <a:ext cx="489934" cy="4899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E36343C-56FA-3316-FBE8-43B96F446A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337" y="2660267"/>
            <a:ext cx="465672" cy="465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18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18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18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Google Shape;201;p18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18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Google Shape;203;p18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Google Shape;204;p18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18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18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18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8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209;p18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18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18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18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18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18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04 / 0</a:t>
            </a:r>
            <a:r>
              <a:rPr lang="en" sz="800" b="1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18900" y="27432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2300" b="1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System </a:t>
            </a:r>
            <a:r>
              <a:rPr lang="en" sz="2300" b="1" dirty="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Architecture </a:t>
            </a:r>
            <a:endParaRPr sz="2300" b="1" dirty="0">
              <a:solidFill>
                <a:srgbClr val="1C1B18"/>
              </a:solidFill>
              <a:highlight>
                <a:srgbClr val="F2E65C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DF6EFE-FCD8-A5DB-2B19-5E21DB559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631" y="768085"/>
            <a:ext cx="5708582" cy="4331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259">
          <a:extLst>
            <a:ext uri="{FF2B5EF4-FFF2-40B4-BE49-F238E27FC236}">
              <a16:creationId xmlns:a16="http://schemas.microsoft.com/office/drawing/2014/main" id="{12156FF2-63D4-1A82-091D-B425F0B5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19">
            <a:extLst>
              <a:ext uri="{FF2B5EF4-FFF2-40B4-BE49-F238E27FC236}">
                <a16:creationId xmlns:a16="http://schemas.microsoft.com/office/drawing/2014/main" id="{ABF9C557-D891-96AC-9C66-44DF1F5A9E81}"/>
              </a:ext>
            </a:extLst>
          </p:cNvPr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" name="Google Shape;261;p19">
            <a:extLst>
              <a:ext uri="{FF2B5EF4-FFF2-40B4-BE49-F238E27FC236}">
                <a16:creationId xmlns:a16="http://schemas.microsoft.com/office/drawing/2014/main" id="{95E61F67-CF3B-9EF6-D955-CE0D8216D8A0}"/>
              </a:ext>
            </a:extLst>
          </p:cNvPr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2" name="Google Shape;262;p19">
            <a:extLst>
              <a:ext uri="{FF2B5EF4-FFF2-40B4-BE49-F238E27FC236}">
                <a16:creationId xmlns:a16="http://schemas.microsoft.com/office/drawing/2014/main" id="{6A0A9478-64B4-5A3F-3A3F-202D911C969B}"/>
              </a:ext>
            </a:extLst>
          </p:cNvPr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19">
            <a:extLst>
              <a:ext uri="{FF2B5EF4-FFF2-40B4-BE49-F238E27FC236}">
                <a16:creationId xmlns:a16="http://schemas.microsoft.com/office/drawing/2014/main" id="{1A150DB4-5D64-E842-E6BF-C6CA2D3BA824}"/>
              </a:ext>
            </a:extLst>
          </p:cNvPr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264;p19">
            <a:extLst>
              <a:ext uri="{FF2B5EF4-FFF2-40B4-BE49-F238E27FC236}">
                <a16:creationId xmlns:a16="http://schemas.microsoft.com/office/drawing/2014/main" id="{0D879468-2BDA-91E5-2730-3E24DF857A54}"/>
              </a:ext>
            </a:extLst>
          </p:cNvPr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19">
            <a:extLst>
              <a:ext uri="{FF2B5EF4-FFF2-40B4-BE49-F238E27FC236}">
                <a16:creationId xmlns:a16="http://schemas.microsoft.com/office/drawing/2014/main" id="{27A80BF0-C577-5606-740C-BADF5D566381}"/>
              </a:ext>
            </a:extLst>
          </p:cNvPr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p19">
            <a:extLst>
              <a:ext uri="{FF2B5EF4-FFF2-40B4-BE49-F238E27FC236}">
                <a16:creationId xmlns:a16="http://schemas.microsoft.com/office/drawing/2014/main" id="{034884C8-0EC8-4F53-8865-40DDD6B83CE0}"/>
              </a:ext>
            </a:extLst>
          </p:cNvPr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19">
            <a:extLst>
              <a:ext uri="{FF2B5EF4-FFF2-40B4-BE49-F238E27FC236}">
                <a16:creationId xmlns:a16="http://schemas.microsoft.com/office/drawing/2014/main" id="{7E69926C-D948-A6C8-4246-0CF32E3D2D5A}"/>
              </a:ext>
            </a:extLst>
          </p:cNvPr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19">
            <a:extLst>
              <a:ext uri="{FF2B5EF4-FFF2-40B4-BE49-F238E27FC236}">
                <a16:creationId xmlns:a16="http://schemas.microsoft.com/office/drawing/2014/main" id="{DA8044E3-EE0B-0211-3259-A413FB27BB66}"/>
              </a:ext>
            </a:extLst>
          </p:cNvPr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19">
            <a:extLst>
              <a:ext uri="{FF2B5EF4-FFF2-40B4-BE49-F238E27FC236}">
                <a16:creationId xmlns:a16="http://schemas.microsoft.com/office/drawing/2014/main" id="{B3A8F679-C0F8-9DE6-3F11-16E524E85FC4}"/>
              </a:ext>
            </a:extLst>
          </p:cNvPr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19">
            <a:extLst>
              <a:ext uri="{FF2B5EF4-FFF2-40B4-BE49-F238E27FC236}">
                <a16:creationId xmlns:a16="http://schemas.microsoft.com/office/drawing/2014/main" id="{05339136-FC9E-3BC6-71BB-1FA2B0932BCF}"/>
              </a:ext>
            </a:extLst>
          </p:cNvPr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19">
            <a:extLst>
              <a:ext uri="{FF2B5EF4-FFF2-40B4-BE49-F238E27FC236}">
                <a16:creationId xmlns:a16="http://schemas.microsoft.com/office/drawing/2014/main" id="{75802B53-A2FC-3A6D-DED1-6FF8EF7F5795}"/>
              </a:ext>
            </a:extLst>
          </p:cNvPr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19">
            <a:extLst>
              <a:ext uri="{FF2B5EF4-FFF2-40B4-BE49-F238E27FC236}">
                <a16:creationId xmlns:a16="http://schemas.microsoft.com/office/drawing/2014/main" id="{854A4CA0-04E1-12FC-A5CA-7E1A68E0871A}"/>
              </a:ext>
            </a:extLst>
          </p:cNvPr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19">
            <a:extLst>
              <a:ext uri="{FF2B5EF4-FFF2-40B4-BE49-F238E27FC236}">
                <a16:creationId xmlns:a16="http://schemas.microsoft.com/office/drawing/2014/main" id="{D3BE7E4E-165D-0DD4-B5FD-4E3F327FBAED}"/>
              </a:ext>
            </a:extLst>
          </p:cNvPr>
          <p:cNvCxnSpPr/>
          <p:nvPr/>
        </p:nvCxnSpPr>
        <p:spPr>
          <a:xfrm>
            <a:off x="3003395" y="2264905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19">
            <a:extLst>
              <a:ext uri="{FF2B5EF4-FFF2-40B4-BE49-F238E27FC236}">
                <a16:creationId xmlns:a16="http://schemas.microsoft.com/office/drawing/2014/main" id="{5E4A04E8-AD33-7856-2D12-EC435F3D1721}"/>
              </a:ext>
            </a:extLst>
          </p:cNvPr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19">
            <a:extLst>
              <a:ext uri="{FF2B5EF4-FFF2-40B4-BE49-F238E27FC236}">
                <a16:creationId xmlns:a16="http://schemas.microsoft.com/office/drawing/2014/main" id="{9479C37F-CDF3-09C9-3039-C5D8B2350F50}"/>
              </a:ext>
            </a:extLst>
          </p:cNvPr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19">
            <a:extLst>
              <a:ext uri="{FF2B5EF4-FFF2-40B4-BE49-F238E27FC236}">
                <a16:creationId xmlns:a16="http://schemas.microsoft.com/office/drawing/2014/main" id="{C14A811C-0B7C-8316-065D-2916DAF626C8}"/>
              </a:ext>
            </a:extLst>
          </p:cNvPr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19">
            <a:extLst>
              <a:ext uri="{FF2B5EF4-FFF2-40B4-BE49-F238E27FC236}">
                <a16:creationId xmlns:a16="http://schemas.microsoft.com/office/drawing/2014/main" id="{32CEF0FF-A4C0-D4D8-59EA-40DD4E5B5A2F}"/>
              </a:ext>
            </a:extLst>
          </p:cNvPr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" name="Google Shape;278;p19">
            <a:extLst>
              <a:ext uri="{FF2B5EF4-FFF2-40B4-BE49-F238E27FC236}">
                <a16:creationId xmlns:a16="http://schemas.microsoft.com/office/drawing/2014/main" id="{9E28A2B1-D4BC-B0D7-CB84-83CB4DA459B1}"/>
              </a:ext>
            </a:extLst>
          </p:cNvPr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9" name="Google Shape;279;p19">
            <a:extLst>
              <a:ext uri="{FF2B5EF4-FFF2-40B4-BE49-F238E27FC236}">
                <a16:creationId xmlns:a16="http://schemas.microsoft.com/office/drawing/2014/main" id="{0AAEF8E4-D6C8-C18C-B086-DBF10DC17484}"/>
              </a:ext>
            </a:extLst>
          </p:cNvPr>
          <p:cNvSpPr/>
          <p:nvPr/>
        </p:nvSpPr>
        <p:spPr>
          <a:xfrm>
            <a:off x="308610" y="81768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>
            <a:extLst>
              <a:ext uri="{FF2B5EF4-FFF2-40B4-BE49-F238E27FC236}">
                <a16:creationId xmlns:a16="http://schemas.microsoft.com/office/drawing/2014/main" id="{22D9723B-0EF9-6D85-0236-6146C4E8EE90}"/>
              </a:ext>
            </a:extLst>
          </p:cNvPr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9">
            <a:extLst>
              <a:ext uri="{FF2B5EF4-FFF2-40B4-BE49-F238E27FC236}">
                <a16:creationId xmlns:a16="http://schemas.microsoft.com/office/drawing/2014/main" id="{92F17367-2F7F-ECF8-4981-6547D592CD03}"/>
              </a:ext>
            </a:extLst>
          </p:cNvPr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05 / 0</a:t>
            </a:r>
            <a:r>
              <a:rPr lang="en" sz="800" b="1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>
            <a:extLst>
              <a:ext uri="{FF2B5EF4-FFF2-40B4-BE49-F238E27FC236}">
                <a16:creationId xmlns:a16="http://schemas.microsoft.com/office/drawing/2014/main" id="{AA56D99B-8E2D-BD03-50E0-5069B6DCADD3}"/>
              </a:ext>
            </a:extLst>
          </p:cNvPr>
          <p:cNvSpPr/>
          <p:nvPr/>
        </p:nvSpPr>
        <p:spPr>
          <a:xfrm>
            <a:off x="308610" y="310446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-IN" sz="2300" b="0" i="0" u="none" strike="noStrike" cap="none" dirty="0">
                <a:solidFill>
                  <a:schemeClr val="dk1"/>
                </a:solidFill>
                <a:highlight>
                  <a:srgbClr val="F2E65C"/>
                </a:highlight>
                <a:latin typeface="Calibri"/>
                <a:ea typeface="Calibri"/>
                <a:cs typeface="Calibri"/>
                <a:sym typeface="Calibri"/>
              </a:rPr>
              <a:t>CLI Commands</a:t>
            </a:r>
            <a:endParaRPr sz="2300" b="0" i="0" u="none" strike="noStrike" cap="none" dirty="0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>
            <a:extLst>
              <a:ext uri="{FF2B5EF4-FFF2-40B4-BE49-F238E27FC236}">
                <a16:creationId xmlns:a16="http://schemas.microsoft.com/office/drawing/2014/main" id="{C82564B5-9F1E-742A-BF4B-1A8799453161}"/>
              </a:ext>
            </a:extLst>
          </p:cNvPr>
          <p:cNvSpPr/>
          <p:nvPr/>
        </p:nvSpPr>
        <p:spPr>
          <a:xfrm>
            <a:off x="1028701" y="878473"/>
            <a:ext cx="7009076" cy="4044047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9">
            <a:extLst>
              <a:ext uri="{FF2B5EF4-FFF2-40B4-BE49-F238E27FC236}">
                <a16:creationId xmlns:a16="http://schemas.microsoft.com/office/drawing/2014/main" id="{A4D4E51E-AC2C-1437-BB50-E4BFA8ABC2C3}"/>
              </a:ext>
            </a:extLst>
          </p:cNvPr>
          <p:cNvSpPr/>
          <p:nvPr/>
        </p:nvSpPr>
        <p:spPr>
          <a:xfrm>
            <a:off x="5246370" y="117586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>
            <a:extLst>
              <a:ext uri="{FF2B5EF4-FFF2-40B4-BE49-F238E27FC236}">
                <a16:creationId xmlns:a16="http://schemas.microsoft.com/office/drawing/2014/main" id="{529F667F-7EE7-3FFB-FCB4-6D4741C0F547}"/>
              </a:ext>
            </a:extLst>
          </p:cNvPr>
          <p:cNvSpPr/>
          <p:nvPr/>
        </p:nvSpPr>
        <p:spPr>
          <a:xfrm>
            <a:off x="4697520" y="1901882"/>
            <a:ext cx="411489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5" name="Google Shape;305;p19">
            <a:extLst>
              <a:ext uri="{FF2B5EF4-FFF2-40B4-BE49-F238E27FC236}">
                <a16:creationId xmlns:a16="http://schemas.microsoft.com/office/drawing/2014/main" id="{FD1F689C-B08D-ACC5-1366-2CD65FB1CD7E}"/>
              </a:ext>
            </a:extLst>
          </p:cNvPr>
          <p:cNvSpPr/>
          <p:nvPr/>
        </p:nvSpPr>
        <p:spPr>
          <a:xfrm>
            <a:off x="5246370" y="2998570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056EB-4B47-09AE-63DB-8E78A41757FB}"/>
              </a:ext>
            </a:extLst>
          </p:cNvPr>
          <p:cNvSpPr txBox="1"/>
          <p:nvPr/>
        </p:nvSpPr>
        <p:spPr>
          <a:xfrm>
            <a:off x="1097070" y="975772"/>
            <a:ext cx="6828598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System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system status</a:t>
            </a:r>
          </a:p>
          <a:p>
            <a:endParaRPr lang="en-IN" sz="85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Agentic Commerce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agent run --intent "hotel in Goa under 3000"</a:t>
            </a:r>
          </a:p>
          <a:p>
            <a:endParaRPr lang="en-IN" sz="85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AI Growth Engine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growth predict --query "hotel in Goa under 3000"</a:t>
            </a:r>
          </a:p>
          <a:p>
            <a:endParaRPr lang="en-IN" sz="85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Security / Attack Lab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attack list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attack run amount-escalation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attack run poisoned-</a:t>
            </a:r>
            <a:r>
              <a:rPr lang="en-IN" sz="850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catalog</a:t>
            </a:r>
            <a:endParaRPr lang="en-IN" sz="85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attack run recipient-substitution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attack run category-substitution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attack run derivation-tampering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attack run prompt-injection</a:t>
            </a:r>
          </a:p>
          <a:p>
            <a:endParaRPr lang="en-IN" sz="85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Audit / Evidence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ledger tail -n 5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ledger verify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backend/cli/main.py ledger inspect &lt;LEDGER_ENTRY_ID_OR_TX_ID&gt;</a:t>
            </a:r>
          </a:p>
          <a:p>
            <a:endParaRPr lang="en-IN" sz="85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Tests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-m </a:t>
            </a:r>
            <a:r>
              <a:rPr lang="en-IN" sz="850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pytest</a:t>
            </a:r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backend/tests/test_razorpay.py backend/tests/test_payment_gate.py -v</a:t>
            </a:r>
          </a:p>
          <a:p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-m </a:t>
            </a:r>
            <a:r>
              <a:rPr lang="en-IN" sz="850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pytest</a:t>
            </a:r>
            <a:r>
              <a:rPr lang="en-IN" sz="85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backend/tests/ -v</a:t>
            </a:r>
          </a:p>
        </p:txBody>
      </p:sp>
    </p:spTree>
    <p:extLst>
      <p:ext uri="{BB962C8B-B14F-4D97-AF65-F5344CB8AC3E}">
        <p14:creationId xmlns:p14="http://schemas.microsoft.com/office/powerpoint/2010/main" val="2454967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259">
          <a:extLst>
            <a:ext uri="{FF2B5EF4-FFF2-40B4-BE49-F238E27FC236}">
              <a16:creationId xmlns:a16="http://schemas.microsoft.com/office/drawing/2014/main" id="{1CC5F5BA-6E52-3017-7C28-0A4A4013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19">
            <a:extLst>
              <a:ext uri="{FF2B5EF4-FFF2-40B4-BE49-F238E27FC236}">
                <a16:creationId xmlns:a16="http://schemas.microsoft.com/office/drawing/2014/main" id="{15D7AD03-367D-D5B6-EC32-52916366C56B}"/>
              </a:ext>
            </a:extLst>
          </p:cNvPr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" name="Google Shape;261;p19">
            <a:extLst>
              <a:ext uri="{FF2B5EF4-FFF2-40B4-BE49-F238E27FC236}">
                <a16:creationId xmlns:a16="http://schemas.microsoft.com/office/drawing/2014/main" id="{7ED4AF95-3389-B454-2428-7E20009235CF}"/>
              </a:ext>
            </a:extLst>
          </p:cNvPr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2" name="Google Shape;262;p19">
            <a:extLst>
              <a:ext uri="{FF2B5EF4-FFF2-40B4-BE49-F238E27FC236}">
                <a16:creationId xmlns:a16="http://schemas.microsoft.com/office/drawing/2014/main" id="{4A433585-23E1-B5D4-646B-79AA8346522D}"/>
              </a:ext>
            </a:extLst>
          </p:cNvPr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19">
            <a:extLst>
              <a:ext uri="{FF2B5EF4-FFF2-40B4-BE49-F238E27FC236}">
                <a16:creationId xmlns:a16="http://schemas.microsoft.com/office/drawing/2014/main" id="{A9C01B3A-2824-B63A-C451-3C81C97B59A5}"/>
              </a:ext>
            </a:extLst>
          </p:cNvPr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264;p19">
            <a:extLst>
              <a:ext uri="{FF2B5EF4-FFF2-40B4-BE49-F238E27FC236}">
                <a16:creationId xmlns:a16="http://schemas.microsoft.com/office/drawing/2014/main" id="{C17D5AAA-12F0-37F8-BC63-FA8932B9BD00}"/>
              </a:ext>
            </a:extLst>
          </p:cNvPr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19">
            <a:extLst>
              <a:ext uri="{FF2B5EF4-FFF2-40B4-BE49-F238E27FC236}">
                <a16:creationId xmlns:a16="http://schemas.microsoft.com/office/drawing/2014/main" id="{2242D02D-A134-BF74-75E3-CBBFC83EA70E}"/>
              </a:ext>
            </a:extLst>
          </p:cNvPr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p19">
            <a:extLst>
              <a:ext uri="{FF2B5EF4-FFF2-40B4-BE49-F238E27FC236}">
                <a16:creationId xmlns:a16="http://schemas.microsoft.com/office/drawing/2014/main" id="{9DC86F72-7381-A1C0-1D7B-D1A0E6D7B1D2}"/>
              </a:ext>
            </a:extLst>
          </p:cNvPr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19">
            <a:extLst>
              <a:ext uri="{FF2B5EF4-FFF2-40B4-BE49-F238E27FC236}">
                <a16:creationId xmlns:a16="http://schemas.microsoft.com/office/drawing/2014/main" id="{3D5EA46C-439F-DD06-2F6A-2FD677BBC573}"/>
              </a:ext>
            </a:extLst>
          </p:cNvPr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19">
            <a:extLst>
              <a:ext uri="{FF2B5EF4-FFF2-40B4-BE49-F238E27FC236}">
                <a16:creationId xmlns:a16="http://schemas.microsoft.com/office/drawing/2014/main" id="{82F8F696-FF08-BC4D-9536-FBF5F7841098}"/>
              </a:ext>
            </a:extLst>
          </p:cNvPr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19">
            <a:extLst>
              <a:ext uri="{FF2B5EF4-FFF2-40B4-BE49-F238E27FC236}">
                <a16:creationId xmlns:a16="http://schemas.microsoft.com/office/drawing/2014/main" id="{46DB5F50-E03C-81D9-49BE-EEE396A5DC7A}"/>
              </a:ext>
            </a:extLst>
          </p:cNvPr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19">
            <a:extLst>
              <a:ext uri="{FF2B5EF4-FFF2-40B4-BE49-F238E27FC236}">
                <a16:creationId xmlns:a16="http://schemas.microsoft.com/office/drawing/2014/main" id="{CE5C227D-850E-EBA8-D779-2A4F6C0876DC}"/>
              </a:ext>
            </a:extLst>
          </p:cNvPr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19">
            <a:extLst>
              <a:ext uri="{FF2B5EF4-FFF2-40B4-BE49-F238E27FC236}">
                <a16:creationId xmlns:a16="http://schemas.microsoft.com/office/drawing/2014/main" id="{BDBCCB89-B3F4-7380-C960-93901AAF8F50}"/>
              </a:ext>
            </a:extLst>
          </p:cNvPr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19">
            <a:extLst>
              <a:ext uri="{FF2B5EF4-FFF2-40B4-BE49-F238E27FC236}">
                <a16:creationId xmlns:a16="http://schemas.microsoft.com/office/drawing/2014/main" id="{B74AA319-4D1D-1BC8-C103-25FFBBDDA8C1}"/>
              </a:ext>
            </a:extLst>
          </p:cNvPr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19">
            <a:extLst>
              <a:ext uri="{FF2B5EF4-FFF2-40B4-BE49-F238E27FC236}">
                <a16:creationId xmlns:a16="http://schemas.microsoft.com/office/drawing/2014/main" id="{4D85AB50-9E02-A85F-668C-99CDAF23D47C}"/>
              </a:ext>
            </a:extLst>
          </p:cNvPr>
          <p:cNvCxnSpPr/>
          <p:nvPr/>
        </p:nvCxnSpPr>
        <p:spPr>
          <a:xfrm>
            <a:off x="3003395" y="2264905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19">
            <a:extLst>
              <a:ext uri="{FF2B5EF4-FFF2-40B4-BE49-F238E27FC236}">
                <a16:creationId xmlns:a16="http://schemas.microsoft.com/office/drawing/2014/main" id="{B8ABD929-2F80-825F-59AF-A02280298A81}"/>
              </a:ext>
            </a:extLst>
          </p:cNvPr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19">
            <a:extLst>
              <a:ext uri="{FF2B5EF4-FFF2-40B4-BE49-F238E27FC236}">
                <a16:creationId xmlns:a16="http://schemas.microsoft.com/office/drawing/2014/main" id="{926E3FC6-7EDA-7314-1768-4E6C94E2BF5E}"/>
              </a:ext>
            </a:extLst>
          </p:cNvPr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19">
            <a:extLst>
              <a:ext uri="{FF2B5EF4-FFF2-40B4-BE49-F238E27FC236}">
                <a16:creationId xmlns:a16="http://schemas.microsoft.com/office/drawing/2014/main" id="{D0E114A5-F8BF-151A-9BB8-FD71A0D74C55}"/>
              </a:ext>
            </a:extLst>
          </p:cNvPr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19">
            <a:extLst>
              <a:ext uri="{FF2B5EF4-FFF2-40B4-BE49-F238E27FC236}">
                <a16:creationId xmlns:a16="http://schemas.microsoft.com/office/drawing/2014/main" id="{95EBB2F9-B2CC-6707-BCE5-E1F734307BEA}"/>
              </a:ext>
            </a:extLst>
          </p:cNvPr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" name="Google Shape;278;p19">
            <a:extLst>
              <a:ext uri="{FF2B5EF4-FFF2-40B4-BE49-F238E27FC236}">
                <a16:creationId xmlns:a16="http://schemas.microsoft.com/office/drawing/2014/main" id="{A072F52F-D357-61C3-E730-5D99D5E84D6E}"/>
              </a:ext>
            </a:extLst>
          </p:cNvPr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9" name="Google Shape;279;p19">
            <a:extLst>
              <a:ext uri="{FF2B5EF4-FFF2-40B4-BE49-F238E27FC236}">
                <a16:creationId xmlns:a16="http://schemas.microsoft.com/office/drawing/2014/main" id="{E7AFD464-02E5-E431-6B94-0499B1517DF8}"/>
              </a:ext>
            </a:extLst>
          </p:cNvPr>
          <p:cNvSpPr/>
          <p:nvPr/>
        </p:nvSpPr>
        <p:spPr>
          <a:xfrm>
            <a:off x="308610" y="81768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>
            <a:extLst>
              <a:ext uri="{FF2B5EF4-FFF2-40B4-BE49-F238E27FC236}">
                <a16:creationId xmlns:a16="http://schemas.microsoft.com/office/drawing/2014/main" id="{92A4394B-46C2-C6BF-2089-1577F324E89F}"/>
              </a:ext>
            </a:extLst>
          </p:cNvPr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9">
            <a:extLst>
              <a:ext uri="{FF2B5EF4-FFF2-40B4-BE49-F238E27FC236}">
                <a16:creationId xmlns:a16="http://schemas.microsoft.com/office/drawing/2014/main" id="{89F984E5-A86B-5515-91F3-9CD42C281718}"/>
              </a:ext>
            </a:extLst>
          </p:cNvPr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06 / 0</a:t>
            </a:r>
            <a:r>
              <a:rPr lang="en" sz="800" b="1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>
            <a:extLst>
              <a:ext uri="{FF2B5EF4-FFF2-40B4-BE49-F238E27FC236}">
                <a16:creationId xmlns:a16="http://schemas.microsoft.com/office/drawing/2014/main" id="{90253B92-9ED0-82CC-9E12-564CBD20E461}"/>
              </a:ext>
            </a:extLst>
          </p:cNvPr>
          <p:cNvSpPr/>
          <p:nvPr/>
        </p:nvSpPr>
        <p:spPr>
          <a:xfrm>
            <a:off x="308610" y="310446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-IN" sz="2300" b="0" i="0" u="none" strike="noStrike" cap="none" dirty="0">
                <a:solidFill>
                  <a:schemeClr val="dk1"/>
                </a:solidFill>
                <a:highlight>
                  <a:srgbClr val="F2E65C"/>
                </a:highlight>
                <a:latin typeface="Calibri"/>
                <a:ea typeface="Calibri"/>
                <a:cs typeface="Calibri"/>
                <a:sym typeface="Calibri"/>
              </a:rPr>
              <a:t>Common attacks:</a:t>
            </a:r>
            <a:endParaRPr sz="2300" b="0" i="0" u="none" strike="noStrike" cap="none" dirty="0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>
            <a:extLst>
              <a:ext uri="{FF2B5EF4-FFF2-40B4-BE49-F238E27FC236}">
                <a16:creationId xmlns:a16="http://schemas.microsoft.com/office/drawing/2014/main" id="{0697C05E-93EE-93E3-43E0-D1DF5A715540}"/>
              </a:ext>
            </a:extLst>
          </p:cNvPr>
          <p:cNvSpPr/>
          <p:nvPr/>
        </p:nvSpPr>
        <p:spPr>
          <a:xfrm>
            <a:off x="1028701" y="1257498"/>
            <a:ext cx="7009076" cy="3225694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9">
            <a:extLst>
              <a:ext uri="{FF2B5EF4-FFF2-40B4-BE49-F238E27FC236}">
                <a16:creationId xmlns:a16="http://schemas.microsoft.com/office/drawing/2014/main" id="{F0F8C32A-413D-C6A9-6B12-CA9FD1F347F1}"/>
              </a:ext>
            </a:extLst>
          </p:cNvPr>
          <p:cNvSpPr/>
          <p:nvPr/>
        </p:nvSpPr>
        <p:spPr>
          <a:xfrm>
            <a:off x="5246370" y="117586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>
            <a:extLst>
              <a:ext uri="{FF2B5EF4-FFF2-40B4-BE49-F238E27FC236}">
                <a16:creationId xmlns:a16="http://schemas.microsoft.com/office/drawing/2014/main" id="{BBF3FD19-05BD-1250-F7CC-773FA97EEA70}"/>
              </a:ext>
            </a:extLst>
          </p:cNvPr>
          <p:cNvSpPr/>
          <p:nvPr/>
        </p:nvSpPr>
        <p:spPr>
          <a:xfrm>
            <a:off x="4697520" y="1901882"/>
            <a:ext cx="411489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5" name="Google Shape;305;p19">
            <a:extLst>
              <a:ext uri="{FF2B5EF4-FFF2-40B4-BE49-F238E27FC236}">
                <a16:creationId xmlns:a16="http://schemas.microsoft.com/office/drawing/2014/main" id="{9F041FC7-EF78-A5E3-3420-683E30543DF1}"/>
              </a:ext>
            </a:extLst>
          </p:cNvPr>
          <p:cNvSpPr/>
          <p:nvPr/>
        </p:nvSpPr>
        <p:spPr>
          <a:xfrm>
            <a:off x="5246370" y="2998570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A7ECA-018A-3C01-5CF9-BCDAFF3467E3}"/>
              </a:ext>
            </a:extLst>
          </p:cNvPr>
          <p:cNvSpPr txBox="1"/>
          <p:nvPr/>
        </p:nvSpPr>
        <p:spPr>
          <a:xfrm>
            <a:off x="1097070" y="1354796"/>
            <a:ext cx="6828598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Amount Escalation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Unauthorized increase in transaction value beyond the approved budget. </a:t>
            </a:r>
          </a:p>
          <a:p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Poisoned </a:t>
            </a:r>
            <a:r>
              <a:rPr lang="en-IN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Catalog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Manipulated product data attempts to influence the AI’s selection. </a:t>
            </a:r>
          </a:p>
          <a:p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Recipient Substitution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Payment is redirected to an unapproved merchant or recipient. </a:t>
            </a:r>
          </a:p>
          <a:p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Substitution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The approved product category is changed during execution. </a:t>
            </a:r>
          </a:p>
          <a:p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Derivation Tampering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Authorized transaction parameters are altered after approval. </a:t>
            </a:r>
          </a:p>
          <a:p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Injection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Malicious instructions attempt to override the user’s original purchase intent.</a:t>
            </a:r>
          </a:p>
          <a:p>
            <a:endParaRPr lang="en-IN" sz="85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86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197">
          <a:extLst>
            <a:ext uri="{FF2B5EF4-FFF2-40B4-BE49-F238E27FC236}">
              <a16:creationId xmlns:a16="http://schemas.microsoft.com/office/drawing/2014/main" id="{E93D7961-9D47-73B5-9C9C-30C17395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87;p19">
            <a:extLst>
              <a:ext uri="{FF2B5EF4-FFF2-40B4-BE49-F238E27FC236}">
                <a16:creationId xmlns:a16="http://schemas.microsoft.com/office/drawing/2014/main" id="{F4DFE1A7-D7F9-F7ED-E49B-B237B5F33214}"/>
              </a:ext>
            </a:extLst>
          </p:cNvPr>
          <p:cNvSpPr/>
          <p:nvPr/>
        </p:nvSpPr>
        <p:spPr>
          <a:xfrm>
            <a:off x="5706961" y="3280277"/>
            <a:ext cx="2488469" cy="1420244"/>
          </a:xfrm>
          <a:prstGeom prst="roundRect">
            <a:avLst>
              <a:gd name="adj" fmla="val 615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87;p19">
            <a:extLst>
              <a:ext uri="{FF2B5EF4-FFF2-40B4-BE49-F238E27FC236}">
                <a16:creationId xmlns:a16="http://schemas.microsoft.com/office/drawing/2014/main" id="{A4118A5D-90CD-DAC1-D574-C49B76AB6594}"/>
              </a:ext>
            </a:extLst>
          </p:cNvPr>
          <p:cNvSpPr/>
          <p:nvPr/>
        </p:nvSpPr>
        <p:spPr>
          <a:xfrm>
            <a:off x="922910" y="3280277"/>
            <a:ext cx="2488469" cy="1420244"/>
          </a:xfrm>
          <a:prstGeom prst="roundRect">
            <a:avLst>
              <a:gd name="adj" fmla="val 615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287;p19">
            <a:extLst>
              <a:ext uri="{FF2B5EF4-FFF2-40B4-BE49-F238E27FC236}">
                <a16:creationId xmlns:a16="http://schemas.microsoft.com/office/drawing/2014/main" id="{8555C70D-410E-21E5-AAE4-C6D305B040B3}"/>
              </a:ext>
            </a:extLst>
          </p:cNvPr>
          <p:cNvSpPr/>
          <p:nvPr/>
        </p:nvSpPr>
        <p:spPr>
          <a:xfrm>
            <a:off x="5706962" y="1210118"/>
            <a:ext cx="2488469" cy="1420244"/>
          </a:xfrm>
          <a:prstGeom prst="roundRect">
            <a:avLst>
              <a:gd name="adj" fmla="val 615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287;p19">
            <a:extLst>
              <a:ext uri="{FF2B5EF4-FFF2-40B4-BE49-F238E27FC236}">
                <a16:creationId xmlns:a16="http://schemas.microsoft.com/office/drawing/2014/main" id="{7C157417-497C-86E4-138E-69D13158A1D8}"/>
              </a:ext>
            </a:extLst>
          </p:cNvPr>
          <p:cNvSpPr/>
          <p:nvPr/>
        </p:nvSpPr>
        <p:spPr>
          <a:xfrm>
            <a:off x="891693" y="1185887"/>
            <a:ext cx="2488469" cy="1420244"/>
          </a:xfrm>
          <a:prstGeom prst="roundRect">
            <a:avLst>
              <a:gd name="adj" fmla="val 615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" name="Google Shape;198;p18">
            <a:extLst>
              <a:ext uri="{FF2B5EF4-FFF2-40B4-BE49-F238E27FC236}">
                <a16:creationId xmlns:a16="http://schemas.microsoft.com/office/drawing/2014/main" id="{7E60E515-C17C-27C8-140E-63FF611775D3}"/>
              </a:ext>
            </a:extLst>
          </p:cNvPr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18">
            <a:extLst>
              <a:ext uri="{FF2B5EF4-FFF2-40B4-BE49-F238E27FC236}">
                <a16:creationId xmlns:a16="http://schemas.microsoft.com/office/drawing/2014/main" id="{584A3F11-BD74-5C80-876F-2A3E916A9A45}"/>
              </a:ext>
            </a:extLst>
          </p:cNvPr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18">
            <a:extLst>
              <a:ext uri="{FF2B5EF4-FFF2-40B4-BE49-F238E27FC236}">
                <a16:creationId xmlns:a16="http://schemas.microsoft.com/office/drawing/2014/main" id="{92AC9642-F52A-BC2C-50CA-4056C8A33CBF}"/>
              </a:ext>
            </a:extLst>
          </p:cNvPr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Google Shape;201;p18">
            <a:extLst>
              <a:ext uri="{FF2B5EF4-FFF2-40B4-BE49-F238E27FC236}">
                <a16:creationId xmlns:a16="http://schemas.microsoft.com/office/drawing/2014/main" id="{50DE5B3D-F98B-3829-D570-7C4EAE3E84EA}"/>
              </a:ext>
            </a:extLst>
          </p:cNvPr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18">
            <a:extLst>
              <a:ext uri="{FF2B5EF4-FFF2-40B4-BE49-F238E27FC236}">
                <a16:creationId xmlns:a16="http://schemas.microsoft.com/office/drawing/2014/main" id="{634392BC-B562-5310-3A42-9E8C053B2D51}"/>
              </a:ext>
            </a:extLst>
          </p:cNvPr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Google Shape;203;p18">
            <a:extLst>
              <a:ext uri="{FF2B5EF4-FFF2-40B4-BE49-F238E27FC236}">
                <a16:creationId xmlns:a16="http://schemas.microsoft.com/office/drawing/2014/main" id="{16A0EA57-3D42-52B3-C286-4CF95DE50279}"/>
              </a:ext>
            </a:extLst>
          </p:cNvPr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Google Shape;204;p18">
            <a:extLst>
              <a:ext uri="{FF2B5EF4-FFF2-40B4-BE49-F238E27FC236}">
                <a16:creationId xmlns:a16="http://schemas.microsoft.com/office/drawing/2014/main" id="{70696999-90A4-496B-4C52-775AA38732EA}"/>
              </a:ext>
            </a:extLst>
          </p:cNvPr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18">
            <a:extLst>
              <a:ext uri="{FF2B5EF4-FFF2-40B4-BE49-F238E27FC236}">
                <a16:creationId xmlns:a16="http://schemas.microsoft.com/office/drawing/2014/main" id="{95373CD0-3CC9-AC77-F5BD-C6DA2CE91ACA}"/>
              </a:ext>
            </a:extLst>
          </p:cNvPr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18">
            <a:extLst>
              <a:ext uri="{FF2B5EF4-FFF2-40B4-BE49-F238E27FC236}">
                <a16:creationId xmlns:a16="http://schemas.microsoft.com/office/drawing/2014/main" id="{9E8DA4E6-62F7-DEF2-97DA-F5594BB4EDF3}"/>
              </a:ext>
            </a:extLst>
          </p:cNvPr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18">
            <a:extLst>
              <a:ext uri="{FF2B5EF4-FFF2-40B4-BE49-F238E27FC236}">
                <a16:creationId xmlns:a16="http://schemas.microsoft.com/office/drawing/2014/main" id="{20439D88-6233-9CE8-C467-AEAC49B4412E}"/>
              </a:ext>
            </a:extLst>
          </p:cNvPr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8">
            <a:extLst>
              <a:ext uri="{FF2B5EF4-FFF2-40B4-BE49-F238E27FC236}">
                <a16:creationId xmlns:a16="http://schemas.microsoft.com/office/drawing/2014/main" id="{73B67CC0-A49C-E38E-C2CF-D7BC4A991285}"/>
              </a:ext>
            </a:extLst>
          </p:cNvPr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209;p18">
            <a:extLst>
              <a:ext uri="{FF2B5EF4-FFF2-40B4-BE49-F238E27FC236}">
                <a16:creationId xmlns:a16="http://schemas.microsoft.com/office/drawing/2014/main" id="{F1233DEB-1E15-934E-332B-830BCE7F3E10}"/>
              </a:ext>
            </a:extLst>
          </p:cNvPr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18">
            <a:extLst>
              <a:ext uri="{FF2B5EF4-FFF2-40B4-BE49-F238E27FC236}">
                <a16:creationId xmlns:a16="http://schemas.microsoft.com/office/drawing/2014/main" id="{6E99BB03-5D86-781B-2AEF-D7846BDC4360}"/>
              </a:ext>
            </a:extLst>
          </p:cNvPr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18">
            <a:extLst>
              <a:ext uri="{FF2B5EF4-FFF2-40B4-BE49-F238E27FC236}">
                <a16:creationId xmlns:a16="http://schemas.microsoft.com/office/drawing/2014/main" id="{C28BB720-71E9-066E-295E-4AABEBCE9B69}"/>
              </a:ext>
            </a:extLst>
          </p:cNvPr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18">
            <a:extLst>
              <a:ext uri="{FF2B5EF4-FFF2-40B4-BE49-F238E27FC236}">
                <a16:creationId xmlns:a16="http://schemas.microsoft.com/office/drawing/2014/main" id="{25DE1911-6DF9-47DE-1986-02F1484ABE53}"/>
              </a:ext>
            </a:extLst>
          </p:cNvPr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18">
            <a:extLst>
              <a:ext uri="{FF2B5EF4-FFF2-40B4-BE49-F238E27FC236}">
                <a16:creationId xmlns:a16="http://schemas.microsoft.com/office/drawing/2014/main" id="{92A77F81-3E04-ACBD-1EC4-4E2AC602DFB9}"/>
              </a:ext>
            </a:extLst>
          </p:cNvPr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18">
            <a:extLst>
              <a:ext uri="{FF2B5EF4-FFF2-40B4-BE49-F238E27FC236}">
                <a16:creationId xmlns:a16="http://schemas.microsoft.com/office/drawing/2014/main" id="{479FBB27-A2FD-B9C6-C159-ADF877C61FD7}"/>
              </a:ext>
            </a:extLst>
          </p:cNvPr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>
            <a:extLst>
              <a:ext uri="{FF2B5EF4-FFF2-40B4-BE49-F238E27FC236}">
                <a16:creationId xmlns:a16="http://schemas.microsoft.com/office/drawing/2014/main" id="{BABF880B-6E7B-67A9-A527-3889D00E7D0A}"/>
              </a:ext>
            </a:extLst>
          </p:cNvPr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07 / 0</a:t>
            </a:r>
            <a:r>
              <a:rPr lang="en" sz="800" b="1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01F78A5C-44FE-3CCB-A654-3B8C938F8452}"/>
              </a:ext>
            </a:extLst>
          </p:cNvPr>
          <p:cNvSpPr/>
          <p:nvPr/>
        </p:nvSpPr>
        <p:spPr>
          <a:xfrm>
            <a:off x="318900" y="27432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2300" b="1" dirty="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Operations/ Important Terms </a:t>
            </a:r>
            <a:endParaRPr sz="2300" b="1" dirty="0">
              <a:solidFill>
                <a:srgbClr val="1C1B18"/>
              </a:solidFill>
              <a:highlight>
                <a:srgbClr val="F2E65C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7ACA3-C157-FC92-344A-D29630BCF9D1}"/>
              </a:ext>
            </a:extLst>
          </p:cNvPr>
          <p:cNvSpPr txBox="1"/>
          <p:nvPr/>
        </p:nvSpPr>
        <p:spPr>
          <a:xfrm>
            <a:off x="927546" y="1269585"/>
            <a:ext cx="2342124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800" b="1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Probabilistic Commerce Plane</a:t>
            </a:r>
            <a:r>
              <a:rPr lang="en-IN" sz="800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— responsible for intent understanding, discovery and optimization.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800" b="1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Deterministic Trust Boundary</a:t>
            </a:r>
            <a:r>
              <a:rPr lang="en-IN" sz="800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— responsible for deciding whether that proposed transaction is actually authorized.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27CD9-004A-5E07-1D64-D2D149B40865}"/>
              </a:ext>
            </a:extLst>
          </p:cNvPr>
          <p:cNvSpPr txBox="1"/>
          <p:nvPr/>
        </p:nvSpPr>
        <p:spPr>
          <a:xfrm>
            <a:off x="5782266" y="1405685"/>
            <a:ext cx="2434188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AEGIS converts this natural-language request into structured intent constraints: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category equals hotel,</a:t>
            </a:r>
            <a:b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location equals Goa,</a:t>
            </a:r>
            <a:b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and maximum budget equals ₹3,000.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B134B1-0686-1CB8-404C-F3B0674E9783}"/>
              </a:ext>
            </a:extLst>
          </p:cNvPr>
          <p:cNvSpPr txBox="1"/>
          <p:nvPr/>
        </p:nvSpPr>
        <p:spPr>
          <a:xfrm>
            <a:off x="978505" y="3446402"/>
            <a:ext cx="2432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 the amount within the authorized ceiling?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 the merchant authorized?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 the category within scope?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800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 the derivation state valid?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7CB21-929B-C6BF-94BD-59CB0242A9F3}"/>
              </a:ext>
            </a:extLst>
          </p:cNvPr>
          <p:cNvSpPr txBox="1"/>
          <p:nvPr/>
        </p:nvSpPr>
        <p:spPr>
          <a:xfrm>
            <a:off x="5902036" y="3556042"/>
            <a:ext cx="21613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b="1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AI proposes.</a:t>
            </a:r>
            <a:br>
              <a:rPr lang="en-IN" b="1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b="1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Policy authorizes.</a:t>
            </a:r>
            <a:br>
              <a:rPr lang="en-IN" b="1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b="1" kern="10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Razorpay</a:t>
            </a:r>
            <a:r>
              <a:rPr lang="en-IN" b="1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executes.</a:t>
            </a:r>
            <a:endParaRPr lang="en-IN" sz="1100" kern="10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Google Shape;288;p19">
            <a:extLst>
              <a:ext uri="{FF2B5EF4-FFF2-40B4-BE49-F238E27FC236}">
                <a16:creationId xmlns:a16="http://schemas.microsoft.com/office/drawing/2014/main" id="{AEFCACF3-39B0-C931-5A6D-E92A13AF10A8}"/>
              </a:ext>
            </a:extLst>
          </p:cNvPr>
          <p:cNvSpPr/>
          <p:nvPr/>
        </p:nvSpPr>
        <p:spPr>
          <a:xfrm>
            <a:off x="921697" y="845728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289;p19">
            <a:extLst>
              <a:ext uri="{FF2B5EF4-FFF2-40B4-BE49-F238E27FC236}">
                <a16:creationId xmlns:a16="http://schemas.microsoft.com/office/drawing/2014/main" id="{CDA8E5AC-8220-8747-481F-4BFB81BADA5C}"/>
              </a:ext>
            </a:extLst>
          </p:cNvPr>
          <p:cNvSpPr/>
          <p:nvPr/>
        </p:nvSpPr>
        <p:spPr>
          <a:xfrm>
            <a:off x="921697" y="845728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290;p19">
            <a:extLst>
              <a:ext uri="{FF2B5EF4-FFF2-40B4-BE49-F238E27FC236}">
                <a16:creationId xmlns:a16="http://schemas.microsoft.com/office/drawing/2014/main" id="{EBF241CF-62F5-9839-1774-1E871EDD09B9}"/>
              </a:ext>
            </a:extLst>
          </p:cNvPr>
          <p:cNvSpPr/>
          <p:nvPr/>
        </p:nvSpPr>
        <p:spPr>
          <a:xfrm>
            <a:off x="1274693" y="831584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C1B18"/>
              </a:buClr>
              <a:buSzPts val="1000"/>
            </a:pPr>
            <a:r>
              <a:rPr lang="en-IN" sz="1000" b="1" dirty="0"/>
              <a:t>SYSTEM ARCHITECTURE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293;p19">
            <a:extLst>
              <a:ext uri="{FF2B5EF4-FFF2-40B4-BE49-F238E27FC236}">
                <a16:creationId xmlns:a16="http://schemas.microsoft.com/office/drawing/2014/main" id="{4FBC26B8-B3F9-C5B7-B578-2C8923990001}"/>
              </a:ext>
            </a:extLst>
          </p:cNvPr>
          <p:cNvSpPr/>
          <p:nvPr/>
        </p:nvSpPr>
        <p:spPr>
          <a:xfrm>
            <a:off x="5706961" y="849325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294;p19">
            <a:extLst>
              <a:ext uri="{FF2B5EF4-FFF2-40B4-BE49-F238E27FC236}">
                <a16:creationId xmlns:a16="http://schemas.microsoft.com/office/drawing/2014/main" id="{CB6E134E-9082-A90D-26B1-6744791C595B}"/>
              </a:ext>
            </a:extLst>
          </p:cNvPr>
          <p:cNvSpPr/>
          <p:nvPr/>
        </p:nvSpPr>
        <p:spPr>
          <a:xfrm>
            <a:off x="5706961" y="849325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295;p19">
            <a:extLst>
              <a:ext uri="{FF2B5EF4-FFF2-40B4-BE49-F238E27FC236}">
                <a16:creationId xmlns:a16="http://schemas.microsoft.com/office/drawing/2014/main" id="{4DCDBD94-A023-5B63-01BD-73FBDC746770}"/>
              </a:ext>
            </a:extLst>
          </p:cNvPr>
          <p:cNvSpPr/>
          <p:nvPr/>
        </p:nvSpPr>
        <p:spPr>
          <a:xfrm>
            <a:off x="6084151" y="842071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C1B18"/>
              </a:buClr>
              <a:buSzPts val="1000"/>
            </a:pPr>
            <a:r>
              <a:rPr lang="en-IN" sz="1000" b="1" dirty="0"/>
              <a:t>INTENT NORMALIZATION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298;p19">
            <a:extLst>
              <a:ext uri="{FF2B5EF4-FFF2-40B4-BE49-F238E27FC236}">
                <a16:creationId xmlns:a16="http://schemas.microsoft.com/office/drawing/2014/main" id="{E60792D3-DA3A-6986-5F20-CFC02265B024}"/>
              </a:ext>
            </a:extLst>
          </p:cNvPr>
          <p:cNvSpPr/>
          <p:nvPr/>
        </p:nvSpPr>
        <p:spPr>
          <a:xfrm>
            <a:off x="921697" y="2918291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19">
            <a:extLst>
              <a:ext uri="{FF2B5EF4-FFF2-40B4-BE49-F238E27FC236}">
                <a16:creationId xmlns:a16="http://schemas.microsoft.com/office/drawing/2014/main" id="{31039A75-0E6E-E375-7E94-C121D05F01D5}"/>
              </a:ext>
            </a:extLst>
          </p:cNvPr>
          <p:cNvSpPr/>
          <p:nvPr/>
        </p:nvSpPr>
        <p:spPr>
          <a:xfrm>
            <a:off x="921697" y="2918291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00;p19">
            <a:extLst>
              <a:ext uri="{FF2B5EF4-FFF2-40B4-BE49-F238E27FC236}">
                <a16:creationId xmlns:a16="http://schemas.microsoft.com/office/drawing/2014/main" id="{F4460F1F-2575-03B8-6D67-EA2B4DB50FFF}"/>
              </a:ext>
            </a:extLst>
          </p:cNvPr>
          <p:cNvSpPr/>
          <p:nvPr/>
        </p:nvSpPr>
        <p:spPr>
          <a:xfrm>
            <a:off x="1285267" y="2914741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C1B18"/>
              </a:buClr>
              <a:buSzPts val="1000"/>
            </a:pPr>
            <a:r>
              <a:rPr lang="en-IN" sz="1000" b="1" dirty="0"/>
              <a:t>AUTHORIZATION CHECKS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303;p19">
            <a:extLst>
              <a:ext uri="{FF2B5EF4-FFF2-40B4-BE49-F238E27FC236}">
                <a16:creationId xmlns:a16="http://schemas.microsoft.com/office/drawing/2014/main" id="{048BA6AB-5B0A-1BAD-5930-29396ADBEBCB}"/>
              </a:ext>
            </a:extLst>
          </p:cNvPr>
          <p:cNvSpPr/>
          <p:nvPr/>
        </p:nvSpPr>
        <p:spPr>
          <a:xfrm>
            <a:off x="5706961" y="2914196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304;p19">
            <a:extLst>
              <a:ext uri="{FF2B5EF4-FFF2-40B4-BE49-F238E27FC236}">
                <a16:creationId xmlns:a16="http://schemas.microsoft.com/office/drawing/2014/main" id="{D30089AA-1AF4-5001-0838-79E1BA7F8AF6}"/>
              </a:ext>
            </a:extLst>
          </p:cNvPr>
          <p:cNvSpPr/>
          <p:nvPr/>
        </p:nvSpPr>
        <p:spPr>
          <a:xfrm>
            <a:off x="5706961" y="2914196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305;p19">
            <a:extLst>
              <a:ext uri="{FF2B5EF4-FFF2-40B4-BE49-F238E27FC236}">
                <a16:creationId xmlns:a16="http://schemas.microsoft.com/office/drawing/2014/main" id="{DA5EDB7A-103C-1EF4-EBD8-0FBC25E3CD61}"/>
              </a:ext>
            </a:extLst>
          </p:cNvPr>
          <p:cNvSpPr/>
          <p:nvPr/>
        </p:nvSpPr>
        <p:spPr>
          <a:xfrm>
            <a:off x="6084151" y="2874462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C1B18"/>
              </a:buClr>
              <a:buSzPts val="1000"/>
            </a:pPr>
            <a:r>
              <a:rPr lang="en-IN" sz="1000" b="1" dirty="0"/>
              <a:t>CORE PRINCIPLE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827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197">
          <a:extLst>
            <a:ext uri="{FF2B5EF4-FFF2-40B4-BE49-F238E27FC236}">
              <a16:creationId xmlns:a16="http://schemas.microsoft.com/office/drawing/2014/main" id="{6FC7DCA0-D7AB-D0B4-1104-D55FE14D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18">
            <a:extLst>
              <a:ext uri="{FF2B5EF4-FFF2-40B4-BE49-F238E27FC236}">
                <a16:creationId xmlns:a16="http://schemas.microsoft.com/office/drawing/2014/main" id="{C3497F68-1F36-A0D2-28FB-CF1F0793658E}"/>
              </a:ext>
            </a:extLst>
          </p:cNvPr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18">
            <a:extLst>
              <a:ext uri="{FF2B5EF4-FFF2-40B4-BE49-F238E27FC236}">
                <a16:creationId xmlns:a16="http://schemas.microsoft.com/office/drawing/2014/main" id="{254A545F-FE74-AEAC-2BA2-5AA8CD952927}"/>
              </a:ext>
            </a:extLst>
          </p:cNvPr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18">
            <a:extLst>
              <a:ext uri="{FF2B5EF4-FFF2-40B4-BE49-F238E27FC236}">
                <a16:creationId xmlns:a16="http://schemas.microsoft.com/office/drawing/2014/main" id="{79F68A48-C377-47D7-374D-4E15C853BCD2}"/>
              </a:ext>
            </a:extLst>
          </p:cNvPr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Google Shape;201;p18">
            <a:extLst>
              <a:ext uri="{FF2B5EF4-FFF2-40B4-BE49-F238E27FC236}">
                <a16:creationId xmlns:a16="http://schemas.microsoft.com/office/drawing/2014/main" id="{35CF22DB-CE65-3EE0-03EF-0F860270CCB1}"/>
              </a:ext>
            </a:extLst>
          </p:cNvPr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18">
            <a:extLst>
              <a:ext uri="{FF2B5EF4-FFF2-40B4-BE49-F238E27FC236}">
                <a16:creationId xmlns:a16="http://schemas.microsoft.com/office/drawing/2014/main" id="{90C4BDB9-9394-BBB5-088C-F4323EF78D59}"/>
              </a:ext>
            </a:extLst>
          </p:cNvPr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Google Shape;203;p18">
            <a:extLst>
              <a:ext uri="{FF2B5EF4-FFF2-40B4-BE49-F238E27FC236}">
                <a16:creationId xmlns:a16="http://schemas.microsoft.com/office/drawing/2014/main" id="{DFB65FDF-45A3-D5EE-A900-A897B0DB7C2F}"/>
              </a:ext>
            </a:extLst>
          </p:cNvPr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Google Shape;204;p18">
            <a:extLst>
              <a:ext uri="{FF2B5EF4-FFF2-40B4-BE49-F238E27FC236}">
                <a16:creationId xmlns:a16="http://schemas.microsoft.com/office/drawing/2014/main" id="{202E6740-425F-1BA4-4F1E-22F585187BF5}"/>
              </a:ext>
            </a:extLst>
          </p:cNvPr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18">
            <a:extLst>
              <a:ext uri="{FF2B5EF4-FFF2-40B4-BE49-F238E27FC236}">
                <a16:creationId xmlns:a16="http://schemas.microsoft.com/office/drawing/2014/main" id="{F9808A4C-AAD4-C086-DAF3-ABADA5446B1B}"/>
              </a:ext>
            </a:extLst>
          </p:cNvPr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18">
            <a:extLst>
              <a:ext uri="{FF2B5EF4-FFF2-40B4-BE49-F238E27FC236}">
                <a16:creationId xmlns:a16="http://schemas.microsoft.com/office/drawing/2014/main" id="{2E154DBF-1E7C-32BA-9C89-6CA75334ACFD}"/>
              </a:ext>
            </a:extLst>
          </p:cNvPr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18">
            <a:extLst>
              <a:ext uri="{FF2B5EF4-FFF2-40B4-BE49-F238E27FC236}">
                <a16:creationId xmlns:a16="http://schemas.microsoft.com/office/drawing/2014/main" id="{6F133E22-206A-F2C7-08CF-8E6A8E4A47A5}"/>
              </a:ext>
            </a:extLst>
          </p:cNvPr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8">
            <a:extLst>
              <a:ext uri="{FF2B5EF4-FFF2-40B4-BE49-F238E27FC236}">
                <a16:creationId xmlns:a16="http://schemas.microsoft.com/office/drawing/2014/main" id="{0F9A9AF8-78DD-6DE7-F6DB-D7EE2B7FBD77}"/>
              </a:ext>
            </a:extLst>
          </p:cNvPr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209;p18">
            <a:extLst>
              <a:ext uri="{FF2B5EF4-FFF2-40B4-BE49-F238E27FC236}">
                <a16:creationId xmlns:a16="http://schemas.microsoft.com/office/drawing/2014/main" id="{7906B82B-7B16-6222-50A5-B2EF5A0A0357}"/>
              </a:ext>
            </a:extLst>
          </p:cNvPr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18">
            <a:extLst>
              <a:ext uri="{FF2B5EF4-FFF2-40B4-BE49-F238E27FC236}">
                <a16:creationId xmlns:a16="http://schemas.microsoft.com/office/drawing/2014/main" id="{D6C8BB65-E528-1DAE-39E0-A0C1C9B562DF}"/>
              </a:ext>
            </a:extLst>
          </p:cNvPr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18">
            <a:extLst>
              <a:ext uri="{FF2B5EF4-FFF2-40B4-BE49-F238E27FC236}">
                <a16:creationId xmlns:a16="http://schemas.microsoft.com/office/drawing/2014/main" id="{4F7137DA-F29F-0E82-D22B-368B2BDD9B57}"/>
              </a:ext>
            </a:extLst>
          </p:cNvPr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>
            <a:extLst>
              <a:ext uri="{FF2B5EF4-FFF2-40B4-BE49-F238E27FC236}">
                <a16:creationId xmlns:a16="http://schemas.microsoft.com/office/drawing/2014/main" id="{1DD8E65F-1D65-5BB7-C7B8-176E5235E798}"/>
              </a:ext>
            </a:extLst>
          </p:cNvPr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08 / 0</a:t>
            </a:r>
            <a:r>
              <a:rPr lang="en" sz="800" b="1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0286C3DA-B585-6747-C99B-B75BB3BDBDB1}"/>
              </a:ext>
            </a:extLst>
          </p:cNvPr>
          <p:cNvSpPr/>
          <p:nvPr/>
        </p:nvSpPr>
        <p:spPr>
          <a:xfrm>
            <a:off x="318900" y="27432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-IN" sz="2300" b="1" dirty="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CLI Proofs</a:t>
            </a: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endParaRPr sz="2300" b="1" dirty="0">
              <a:solidFill>
                <a:srgbClr val="1C1B18"/>
              </a:solidFill>
              <a:highlight>
                <a:srgbClr val="F2E65C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210143-7450-87B0-E9D4-E89682B51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69" y="768085"/>
            <a:ext cx="4207722" cy="1973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4FD8CB-495F-16BE-C901-D35BEB290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622" y="768085"/>
            <a:ext cx="4571999" cy="19786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16666E-0BE8-CD50-27E7-8D9280349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" y="2841361"/>
            <a:ext cx="8503800" cy="219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078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859</Words>
  <Application>Microsoft Office PowerPoint</Application>
  <PresentationFormat>On-screen Show (16:9)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Cascadia Code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Sanjeev Kumar S</dc:creator>
  <cp:lastModifiedBy>Sanjeev kumar S</cp:lastModifiedBy>
  <cp:revision>9</cp:revision>
  <dcterms:modified xsi:type="dcterms:W3CDTF">2026-09-04T20:50:50Z</dcterms:modified>
</cp:coreProperties>
</file>